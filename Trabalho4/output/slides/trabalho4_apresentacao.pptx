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cdb0ebc3c748bd" /><Relationship Type="http://schemas.openxmlformats.org/officeDocument/2006/relationships/extended-properties" Target="/docProps/app.xml" Id="Rfe8181f158944523" /><Relationship Type="http://schemas.openxmlformats.org/officeDocument/2006/relationships/officeDocument" Target="/ppt/presentation.xml" Id="R6ca37b7490514b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345407f06d44f2"/>
  </p:sldMasterIdLst>
  <p:notesMasterIdLst>
    <p:notesMasterId xmlns:r="http://schemas.openxmlformats.org/officeDocument/2006/relationships" r:id="R0ff2b2decc2b48bc"/>
  </p:notesMasterIdLst>
  <p:sldIdLst>
    <p:sldId xmlns:r="http://schemas.openxmlformats.org/officeDocument/2006/relationships" id="256" r:id="R061d24fdd0a74cb0"/>
    <p:sldId xmlns:r="http://schemas.openxmlformats.org/officeDocument/2006/relationships" id="257" r:id="Raf2293fc3f154e1e"/>
    <p:sldId xmlns:r="http://schemas.openxmlformats.org/officeDocument/2006/relationships" id="258" r:id="R2b765ed6eb1149ff"/>
    <p:sldId xmlns:r="http://schemas.openxmlformats.org/officeDocument/2006/relationships" id="259" r:id="R4131a505110e4ddc"/>
    <p:sldId xmlns:r="http://schemas.openxmlformats.org/officeDocument/2006/relationships" id="260" r:id="Rf00927a760304e4d"/>
    <p:sldId xmlns:r="http://schemas.openxmlformats.org/officeDocument/2006/relationships" id="261" r:id="Ra518ba750f134e63"/>
    <p:sldId xmlns:r="http://schemas.openxmlformats.org/officeDocument/2006/relationships" id="262" r:id="R24507bc72b904a05"/>
    <p:sldId xmlns:r="http://schemas.openxmlformats.org/officeDocument/2006/relationships" id="263" r:id="R2b32638821b446f6"/>
    <p:sldId xmlns:r="http://schemas.openxmlformats.org/officeDocument/2006/relationships" id="264" r:id="R4a6b3d36f95f44ad"/>
    <p:sldId xmlns:r="http://schemas.openxmlformats.org/officeDocument/2006/relationships" id="265" r:id="R710ad5940c2a4efd"/>
    <p:sldId xmlns:r="http://schemas.openxmlformats.org/officeDocument/2006/relationships" id="266" r:id="Ra5fbaee3faf04c1f"/>
    <p:sldId xmlns:r="http://schemas.openxmlformats.org/officeDocument/2006/relationships" id="267" r:id="Rf16dd37ddacd411e"/>
    <p:sldId xmlns:r="http://schemas.openxmlformats.org/officeDocument/2006/relationships" id="268" r:id="R7eadcaf195ca4dd1"/>
    <p:sldId xmlns:r="http://schemas.openxmlformats.org/officeDocument/2006/relationships" id="269" r:id="Rac010ceba43e45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ac22e781964397" /><Relationship Type="http://schemas.openxmlformats.org/officeDocument/2006/relationships/slideMaster" Target="/ppt/slideMasters/slideMaster1.xml" Id="R2d345407f06d44f2" /><Relationship Type="http://schemas.openxmlformats.org/officeDocument/2006/relationships/notesMaster" Target="/ppt/notesMasters/notesMaster1.xml" Id="R0ff2b2decc2b48bc" /><Relationship Type="http://schemas.openxmlformats.org/officeDocument/2006/relationships/presProps" Target="/ppt/presProps.xml" Id="R08a78878e4394f10" /><Relationship Type="http://schemas.openxmlformats.org/officeDocument/2006/relationships/tableStyles" Target="/ppt/tableStyles.xml" Id="R61b523a1408d4053" /><Relationship Type="http://schemas.openxmlformats.org/officeDocument/2006/relationships/slide" Target="/ppt/slides/slide1.xml" Id="R061d24fdd0a74cb0" /><Relationship Type="http://schemas.openxmlformats.org/officeDocument/2006/relationships/slide" Target="/ppt/slides/slide2.xml" Id="Raf2293fc3f154e1e" /><Relationship Type="http://schemas.openxmlformats.org/officeDocument/2006/relationships/slide" Target="/ppt/slides/slide3.xml" Id="R2b765ed6eb1149ff" /><Relationship Type="http://schemas.openxmlformats.org/officeDocument/2006/relationships/slide" Target="/ppt/slides/slide4.xml" Id="R4131a505110e4ddc" /><Relationship Type="http://schemas.openxmlformats.org/officeDocument/2006/relationships/slide" Target="/ppt/slides/slide5.xml" Id="Rf00927a760304e4d" /><Relationship Type="http://schemas.openxmlformats.org/officeDocument/2006/relationships/slide" Target="/ppt/slides/slide6.xml" Id="Ra518ba750f134e63" /><Relationship Type="http://schemas.openxmlformats.org/officeDocument/2006/relationships/slide" Target="/ppt/slides/slide7.xml" Id="R24507bc72b904a05" /><Relationship Type="http://schemas.openxmlformats.org/officeDocument/2006/relationships/slide" Target="/ppt/slides/slide8.xml" Id="R2b32638821b446f6" /><Relationship Type="http://schemas.openxmlformats.org/officeDocument/2006/relationships/slide" Target="/ppt/slides/slide9.xml" Id="R4a6b3d36f95f44ad" /><Relationship Type="http://schemas.openxmlformats.org/officeDocument/2006/relationships/slide" Target="/ppt/slides/slide10.xml" Id="R710ad5940c2a4efd" /><Relationship Type="http://schemas.openxmlformats.org/officeDocument/2006/relationships/slide" Target="/ppt/slides/slide11.xml" Id="Ra5fbaee3faf04c1f" /><Relationship Type="http://schemas.openxmlformats.org/officeDocument/2006/relationships/slide" Target="/ppt/slides/slide12.xml" Id="Rf16dd37ddacd411e" /><Relationship Type="http://schemas.openxmlformats.org/officeDocument/2006/relationships/slide" Target="/ppt/slides/slide13.xml" Id="R7eadcaf195ca4dd1" /><Relationship Type="http://schemas.openxmlformats.org/officeDocument/2006/relationships/slide" Target="/ppt/slides/slide14.xml" Id="Rac010ceba43e45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8c30cd8cd749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5853054364443c" /><Relationship Type="http://schemas.openxmlformats.org/officeDocument/2006/relationships/notesMaster" Target="/ppt/notesMasters/notesMaster1.xml" Id="R458354cd7f5d4f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e225b768aa429f" /><Relationship Type="http://schemas.openxmlformats.org/officeDocument/2006/relationships/notesMaster" Target="/ppt/notesMasters/notesMaster1.xml" Id="Ra51fb871af174d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aef6cd6f5748f6" /><Relationship Type="http://schemas.openxmlformats.org/officeDocument/2006/relationships/notesMaster" Target="/ppt/notesMasters/notesMaster1.xml" Id="R32838d8c5b4b41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ab3bd69ca5428e" /><Relationship Type="http://schemas.openxmlformats.org/officeDocument/2006/relationships/notesMaster" Target="/ppt/notesMasters/notesMaster1.xml" Id="R3998ee5afb1143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a62f9a4c384084" /><Relationship Type="http://schemas.openxmlformats.org/officeDocument/2006/relationships/notesMaster" Target="/ppt/notesMasters/notesMaster1.xml" Id="Rdb0a0af47e8645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881a38fc3e4961" /><Relationship Type="http://schemas.openxmlformats.org/officeDocument/2006/relationships/notesMaster" Target="/ppt/notesMasters/notesMaster1.xml" Id="R40d1999db64a4e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a37287617c45fd" /><Relationship Type="http://schemas.openxmlformats.org/officeDocument/2006/relationships/notesMaster" Target="/ppt/notesMasters/notesMaster1.xml" Id="Rbc5be0d621924b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7811e34fc8424e" /><Relationship Type="http://schemas.openxmlformats.org/officeDocument/2006/relationships/notesMaster" Target="/ppt/notesMasters/notesMaster1.xml" Id="R1a83bf5817e944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3d9eab292cb415b" /><Relationship Type="http://schemas.openxmlformats.org/officeDocument/2006/relationships/notesMaster" Target="/ppt/notesMasters/notesMaster1.xml" Id="R180fa4e005124f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c0f24a405b94a9c" /><Relationship Type="http://schemas.openxmlformats.org/officeDocument/2006/relationships/notesMaster" Target="/ppt/notesMasters/notesMaster1.xml" Id="Red3eb4c379ff44b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2abf06f4da4485e" /><Relationship Type="http://schemas.openxmlformats.org/officeDocument/2006/relationships/notesMaster" Target="/ppt/notesMasters/notesMaster1.xml" Id="Rc3ad8ef49dc9431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9b4881bfb4c43f8" /><Relationship Type="http://schemas.openxmlformats.org/officeDocument/2006/relationships/notesMaster" Target="/ppt/notesMasters/notesMaster1.xml" Id="Re10f755a84a2490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06ea5db8ddb43c0" /><Relationship Type="http://schemas.openxmlformats.org/officeDocument/2006/relationships/notesMaster" Target="/ppt/notesMasters/notesMaster1.xml" Id="R1b4825a632da42e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700bc99700e4074" /><Relationship Type="http://schemas.openxmlformats.org/officeDocument/2006/relationships/notesMaster" Target="/ppt/notesMasters/notesMaster1.xml" Id="R67855a3c37cc4e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trabalho4.py e resultados_completos/execucao.json. Objetivo: comparar BM25 e embeddings dos modelos MiniLM e BGE-M3, isolados e combinados com RRF e média ponderada. Apresentação preparada em 06/10/2026; execução 02/10 e avaliação 04/10.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trabalho4.py e resultados_completos/execucao.json. A entrada tem colunas id/frase, sem IDs ou frases repetidas. O mesmo CSV e as mesmas dez consultas são usados em todas as configurações. Há busca exata com NumPy, sem ChromaDB nesta adaptação.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trabalho4.py e resultados_completos/execucao.json. Os valores de BM25 são constantes na fórmula de score: 1,5 corresponde a k1; 0,75 corresponde a b. Lote 8 é o padrão do programa; o registro de execução não grava explicitamente o lote utilizado. O dispositivo CPU consta no JSON. São 1 BM25 + 2 modelos x (1 isolado + 4 RRF + 5 ponderações) = 21 configurações.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trabalho4.py e resultados_completos/execucao.json. Trecho literal da função BM25.score, linhas 50-59. self.counts contém contagens dos tokens; self.lengths contém o comprimento de cada frase; self.df é a frequência documental. k1 controla saturação de frequência; b controla normalização pelo tamanho. Antes da busca, tokenize converte para minúsculas e remove acentos. Mantém stopwords e não faz stemming.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trabalho4.py e resultados_completos/execucao.json. Trechos literais de trabalho4.py: linhas 139-141 e 221-222. SentenceTransformer gera embeddings densos; normalização L2 faz o produto escalar equivaler ao cosseno. MiniLM e BGE são carregados um por vez. Os vetores são salvos em .npy com chave SHA-256 do modelo e do texto para reutilização. O BGE usa apenas sua representação densa; o lexical vem do BM25 separado.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trabalho4.py e resultados_completos/execucao.json. Funções literais normalize e weighted, linhas 67-75. Cada fonte é normalizada separadamente entre zero e um, sobre todos os documentos da consulta. alpha é o peso lexical; 1-alpha é o peso semântico. Scores constantes são convertidos em zero. Os extremos testados reproduzem as ordenações isoladas neste experimento.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trabalho4.py e resultados_completos/execucao.json. Trecho literal da função rrf, linhas 81-87. A verificação de k positivo está nas linhas 79-80. As posições começam em 1. Usa o ranking semântico completo e apenas documentos com score lexical positivo. RRF soma 1/(k+posição), sem usar a magnitude do score original. k menor dá mais diferença relativa aos primeiros lugares.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resultados_avaliados/comparacao_metodos.csv e metricas.csv. Médias das dez consultas. Avaliação por IA, sem revisão humana. Os 348 pares são a união dos top 10 das configurações. Foram classificados por leitura da consulta e frase, com critérios explícitos em criterios_avaliacao_IA.json. Não houve revisão humana. Precision e Recall consideram nota &gt; 0; nDCG usa ganho 2^nota-1. Recall é relativo ao pool julgado. As 2.100 posições estão cobertas. MRR mede a posição do primeiro resultado relevante.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resultados_avaliados/comparacao_metodos.csv e metricas.csv. Médias das dez consultas. Avaliação por IA, sem revisão humana. Precision inclui respostas parciais de grau 1. A proporção de notas 2 foi 1% no BM25, 7% no MiniLM e 17% no BGE. Portanto 85% não significa 85% de respostas completas. Recall@10 no pool foi 0,235; 0,283; 0,364. MRR@10 foi 0,675; 0,925; 0,950.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resultados_avaliados/comparacao_metodos.csv e metricas.csv. Médias das dez consultas. Avaliação por IA, sem revisão humana. Min-max foi calculado separadamente sobre todos os scores por consulta. Para BGE, qualquer peso lexical positivo testado reduziu P@10 e nDCG em relação ao isolado. MiniLM com alpha 0,25 melhorou Precision de 0,67 para 0,72, mas reduziu nDCG de 0,534 para 0,501. Não há uma melhora universal; depende da métrica.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resultados_avaliados/comparacao_metodos.csv e metricas.csv. Médias das dez consultas. Avaliação por IA, sem revisão humana. k=10 teve o melhor nDCG entre valores testados nos dois modelos. MiniLM teve maior Precision com k=60: 0,71. BGE teve P 0,74 com k=10,30,60 e 0,73 com k=100. Nenhuma configuração RRF superou BGE isolado. O melhor parâmetro depende do objetivo e das consultas.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resultados_avaliados/comparacao_metodos.csv e metricas.csv. Médias das dez consultas. Avaliação por IA, sem revisão humana. Consulta 10. BM25 primeiro ID 7653, grau 0. BGE primeiro ID 7490, grau 2. Precision@10 da consulta: BM25 0,2; MiniLM 0,7; BGE 1,0. nDCG do BGE foi 0,9897. Fontes: rankings.csv e avaliacao_preenchida.csv.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trabalho4.py e resultados_completos/execucao.json. Fonte: resultados_avaliados/comparacao_metodos.csv e metricas.csv. Médias das dez consultas. Avaliação por IA, sem revisão humana. Tempos por consulta excluem ordenação e exportação. Tempo semântico inclui embedding da consulta e comparação vetorial. Tempo lexical inclui BM25. A preparação inclui carregamento/download quando necessário e embeddings do corpus. Não comparar custo da fusão isolada ao custo total de busca. Tempos dependem da máquina e dos downloads.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resultados_avaliados/comparacao_metodos.csv e metricas.csv. Médias das dez consultas. Avaliação por IA, sem revisão humana. BGE vence a média neste experimento, não em todas as consultas. BM25 P=1,0 na consulta de flexibilidade, MiniLM P=0,7 contra BGE 0,5 em ansiedade. A fusão pode piorar um ranking semântico bom. Corpus sintético com estruturas repetidas, só dez consultas, sem separação de validação para escolher parâmetros, rótulos por IA e pool construído pelos próprios rankings limitam generalização.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05f184a4854d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0336affaf84be2" /><Relationship Type="http://schemas.openxmlformats.org/officeDocument/2006/relationships/slideLayout" Target="/ppt/slideLayouts/slideLayout1.xml" Id="R3a2556248fb442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2556248fb442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87e698655b495a" /><Relationship Type="http://schemas.openxmlformats.org/officeDocument/2006/relationships/notesSlide" Target="/ppt/notesSlides/notesSlide1.xml" Id="Re83a4575e36849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7183abe484270" /><Relationship Type="http://schemas.openxmlformats.org/officeDocument/2006/relationships/notesSlide" Target="/ppt/notesSlides/notesSlide2.xml" Id="R739dd38ae5354a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d9c8114c4f4625" /><Relationship Type="http://schemas.openxmlformats.org/officeDocument/2006/relationships/notesSlide" Target="/ppt/notesSlides/notesSlide3.xml" Id="Reaa79f5ac1b241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196083b7840b1" /><Relationship Type="http://schemas.openxmlformats.org/officeDocument/2006/relationships/notesSlide" Target="/ppt/notesSlides/notesSlide4.xml" Id="Rdc68c9dcd93448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f7cdb3e334808" /><Relationship Type="http://schemas.openxmlformats.org/officeDocument/2006/relationships/notesSlide" Target="/ppt/notesSlides/notesSlide5.xml" Id="Rfed5dfb7caee46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ce7ef35b84314" /><Relationship Type="http://schemas.openxmlformats.org/officeDocument/2006/relationships/notesSlide" Target="/ppt/notesSlides/notesSlide6.xml" Id="Rf954e54b358547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efbda5d1b452d" /><Relationship Type="http://schemas.openxmlformats.org/officeDocument/2006/relationships/notesSlide" Target="/ppt/notesSlides/notesSlide7.xml" Id="Rb61feb32ba6241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0f09a69884281" /><Relationship Type="http://schemas.openxmlformats.org/officeDocument/2006/relationships/notesSlide" Target="/ppt/notesSlides/notesSlide8.xml" Id="R989279c9641f4c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ee0a37f3c4e0d" /><Relationship Type="http://schemas.openxmlformats.org/officeDocument/2006/relationships/notesSlide" Target="/ppt/notesSlides/notesSlide9.xml" Id="R23a0ef6b020d48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763f4920e4273" /><Relationship Type="http://schemas.openxmlformats.org/officeDocument/2006/relationships/notesSlide" Target="/ppt/notesSlides/notesSlide10.xml" Id="Rf357c33ab34c45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edd72bf674078" /><Relationship Type="http://schemas.openxmlformats.org/officeDocument/2006/relationships/notesSlide" Target="/ppt/notesSlides/notesSlide11.xml" Id="Rdbf173c836fc442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e8a81eee14cbc" /><Relationship Type="http://schemas.openxmlformats.org/officeDocument/2006/relationships/notesSlide" Target="/ppt/notesSlides/notesSlide12.xml" Id="R476bf2d7d95b464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412db9bc94d37" /><Relationship Type="http://schemas.openxmlformats.org/officeDocument/2006/relationships/notesSlide" Target="/ppt/notesSlides/notesSlide13.xml" Id="Rff79c5d0954440e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1c77491e441fe" /><Relationship Type="http://schemas.openxmlformats.org/officeDocument/2006/relationships/notesSlide" Target="/ppt/notesSlides/notesSlide14.xml" Id="Ra818ea95c6334c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03DF8C-04F8-41F6-9FF1-7950D995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Busca lexical e semântica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DBE6A-235D-450D-8B4F-414B2AE0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BF552-E1D5-4A8A-811B-0F3F63E3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Trabalho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55FC7F-5C5D-4008-BCEA-06F668CE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Metodologia, código e resultados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F6CD3B-F097-4F2E-A8AB-3ED5343B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10.000 frases sobre artes marciais</a:t>
            </a:r>
          </a:p>
          <a:p xmlns:a="http://schemas.openxmlformats.org/drawingml/2006/main">
            <a:pPr>
              <a:defRPr sz="2250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MiniLM • BGE-M3 • BM25</a:t>
            </a:r>
          </a:p>
        </p:txBody>
      </p:sp>
    </p:spTree>
    <p:extLst>
      <p:ext uri="{BB962C8B-B14F-4D97-AF65-F5344CB8AC3E}">
        <p14:creationId xmlns:p14="http://schemas.microsoft.com/office/powerpoint/2010/main" val="1784590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F88910-8D57-476E-B7B6-9F39F9FA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Metodologia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0515FF-9DF2-42A7-B400-E85F565E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31F875-37E2-4466-A7B7-906E8870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1. Validar o CSV com 10.000 frases distintas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A551A-826E-4F7C-8D7A-DAAE4BD6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2. Calcular BM25 e embeddings para o mesmo corpus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5618CE-B4FE-4EE8-840D-D1B8BEE0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3. Buscar com as mesmas 10 consultas e combinar rankings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7134DD-810A-4E4A-B3DA-4B26A810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4. Julgar o top 10 e comparar 21 configurações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C04E6-E633-4E5F-B08B-9AAD7E92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Busca vetorial exata por cosseno com NumPy</a:t>
            </a:r>
          </a:p>
        </p:txBody>
      </p:sp>
    </p:spTree>
    <p:extLst>
      <p:ext uri="{BB962C8B-B14F-4D97-AF65-F5344CB8AC3E}">
        <p14:creationId xmlns:p14="http://schemas.microsoft.com/office/powerpoint/2010/main" val="11735791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7FFED-2E05-4906-8AB8-A6DFF40A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Parâmetros do experimento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5550B7-7BA4-4632-8C82-2BC6EBB8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600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29125"/>
                <a:gridCol w="6543675"/>
              </a:tblGrid>
              <a:tr h="6000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Parâmetro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Valor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Corpus / consultas / top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10.000 / 10 / 10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BM25: k1 e 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1,5 e 0,75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Peso lexical alpha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0; 0,25; 0,50; 0,75; 1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RRF: 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10; 30; 60; 100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Execução / lote padrão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CPU / 8 frases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8F995-BC54-4BDB-8741-F98A41A0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MiniLM: 384 dimensões   |   BGE-M3: 1.024 dimensões</a:t>
            </a:r>
          </a:p>
        </p:txBody>
      </p:sp>
    </p:spTree>
    <p:extLst>
      <p:ext uri="{BB962C8B-B14F-4D97-AF65-F5344CB8AC3E}">
        <p14:creationId xmlns:p14="http://schemas.microsoft.com/office/powerpoint/2010/main" val="2570474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AFB69A-1159-4AEC-B2C3-6291FDEC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Código: busca lexical com BM25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F65714-D67B-4940-B405-51780A5D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C7D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C7D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B145F-7BB5-459C-A715-E48F408A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BF3F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BF3F2"/>
                </a:solidFill>
                <a:latin typeface="Consolas"/>
                <a:ea typeface="Consolas"/>
                <a:cs typeface="Consolas"/>
              </a:rPr>
              <a:t>def score(self, query):</a:t>
            </a:r>
          </a:p>
          <a:p xmlns:a="http://schemas.openxmlformats.org/drawingml/2006/main">
            <a:pPr>
              <a:defRPr sz="1725" b="0">
                <a:solidFill>
                  <a:srgbClr val="DBF3F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BF3F2"/>
                </a:solidFill>
                <a:latin typeface="Consolas"/>
                <a:ea typeface="Consolas"/>
                <a:cs typeface="Consolas"/>
              </a:rPr>
              <a:t>    scores = np.zeros(len(self.counts))</a:t>
            </a:r>
          </a:p>
          <a:p xmlns:a="http://schemas.openxmlformats.org/drawingml/2006/main">
            <a:pPr>
              <a:defRPr sz="1725" b="0">
                <a:solidFill>
                  <a:srgbClr val="DBF3F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BF3F2"/>
                </a:solidFill>
                <a:latin typeface="Consolas"/>
                <a:ea typeface="Consolas"/>
                <a:cs typeface="Consolas"/>
              </a:rPr>
              <a:t>    for term in set(tokenize(query)):</a:t>
            </a:r>
          </a:p>
          <a:p xmlns:a="http://schemas.openxmlformats.org/drawingml/2006/main">
            <a:pPr>
              <a:defRPr sz="1725" b="0">
                <a:solidFill>
                  <a:srgbClr val="DBF3F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BF3F2"/>
                </a:solidFill>
                <a:latin typeface="Consolas"/>
                <a:ea typeface="Consolas"/>
                <a:cs typeface="Consolas"/>
              </a:rPr>
              <a:t>        df = self.df.get(term, 0)</a:t>
            </a:r>
          </a:p>
          <a:p xmlns:a="http://schemas.openxmlformats.org/drawingml/2006/main">
            <a:pPr>
              <a:defRPr sz="1725" b="0">
                <a:solidFill>
                  <a:srgbClr val="DBF3F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BF3F2"/>
                </a:solidFill>
                <a:latin typeface="Consolas"/>
                <a:ea typeface="Consolas"/>
                <a:cs typeface="Consolas"/>
              </a:rPr>
              <a:t>        if not df:</a:t>
            </a:r>
          </a:p>
          <a:p xmlns:a="http://schemas.openxmlformats.org/drawingml/2006/main">
            <a:pPr>
              <a:defRPr sz="1725" b="0">
                <a:solidFill>
                  <a:srgbClr val="DBF3F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BF3F2"/>
                </a:solidFill>
                <a:latin typeface="Consolas"/>
                <a:ea typeface="Consolas"/>
                <a:cs typeface="Consolas"/>
              </a:rPr>
              <a:t>            continue</a:t>
            </a:r>
          </a:p>
          <a:p xmlns:a="http://schemas.openxmlformats.org/drawingml/2006/main">
            <a:pPr>
              <a:defRPr sz="1725" b="0">
                <a:solidFill>
                  <a:srgbClr val="DBF3F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BF3F2"/>
                </a:solidFill>
                <a:latin typeface="Consolas"/>
                <a:ea typeface="Consolas"/>
                <a:cs typeface="Consolas"/>
              </a:rPr>
              <a:t>        tf = np.array([c.get(term, 0) for c in self.counts], dtype=float)</a:t>
            </a:r>
          </a:p>
          <a:p xmlns:a="http://schemas.openxmlformats.org/drawingml/2006/main">
            <a:pPr>
              <a:defRPr sz="1725" b="0">
                <a:solidFill>
                  <a:srgbClr val="DBF3F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BF3F2"/>
                </a:solidFill>
                <a:latin typeface="Consolas"/>
                <a:ea typeface="Consolas"/>
                <a:cs typeface="Consolas"/>
              </a:rPr>
              <a:t>        idf = math.log(1 + (len(scores) - df + .5) / (df + .5))</a:t>
            </a:r>
          </a:p>
          <a:p xmlns:a="http://schemas.openxmlformats.org/drawingml/2006/main">
            <a:pPr>
              <a:defRPr sz="1725" b="0">
                <a:solidFill>
                  <a:srgbClr val="DBF3F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BF3F2"/>
                </a:solidFill>
                <a:latin typeface="Consolas"/>
                <a:ea typeface="Consolas"/>
                <a:cs typeface="Consolas"/>
              </a:rPr>
              <a:t>        scores += (idf * tf * 2.5</a:t>
            </a:r>
          </a:p>
          <a:p xmlns:a="http://schemas.openxmlformats.org/drawingml/2006/main">
            <a:pPr>
              <a:defRPr sz="1725" b="0">
                <a:solidFill>
                  <a:srgbClr val="DBF3F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BF3F2"/>
                </a:solidFill>
                <a:latin typeface="Consolas"/>
                <a:ea typeface="Consolas"/>
                <a:cs typeface="Consolas"/>
              </a:rPr>
              <a:t>                   / (tf + 1.5 * (.25 + .75 * self.lengths / self.avg)))</a:t>
            </a:r>
          </a:p>
          <a:p xmlns:a="http://schemas.openxmlformats.org/drawingml/2006/main">
            <a:pPr>
              <a:defRPr sz="1725" b="0">
                <a:solidFill>
                  <a:srgbClr val="DBF3F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BF3F2"/>
                </a:solidFill>
                <a:latin typeface="Consolas"/>
                <a:ea typeface="Consolas"/>
                <a:cs typeface="Consolas"/>
              </a:rPr>
              <a:t>    return scores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099E3-3A5C-4239-BB71-BEB98416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frequência do termo e o tamanho da frase determinam o score</a:t>
            </a:r>
          </a:p>
        </p:txBody>
      </p:sp>
    </p:spTree>
    <p:extLst>
      <p:ext uri="{BB962C8B-B14F-4D97-AF65-F5344CB8AC3E}">
        <p14:creationId xmlns:p14="http://schemas.microsoft.com/office/powerpoint/2010/main" val="10481540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DE275-CEDF-43E7-BFAF-5F37A61C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Código: embeddings e similaridade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1F44F4-BFE3-4F6F-B01A-296D3702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C7D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C7D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5915B8-02C7-4361-8C3E-2859C713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BF3F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BF3F2"/>
                </a:solidFill>
                <a:latin typeface="Consolas"/>
                <a:ea typeface="Consolas"/>
                <a:cs typeface="Consolas"/>
              </a:rPr>
              <a:t>vectors = model.encode(texts, batch_size=batch_size, </a:t>
            </a:r>
          </a:p>
          <a:p xmlns:a="http://schemas.openxmlformats.org/drawingml/2006/main">
            <a:pPr>
              <a:defRPr sz="1725" b="0">
                <a:solidFill>
                  <a:srgbClr val="DBF3F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BF3F2"/>
                </a:solidFill>
                <a:latin typeface="Consolas"/>
                <a:ea typeface="Consolas"/>
                <a:cs typeface="Consolas"/>
              </a:rPr>
              <a:t>                       normalize_embeddings=True,</a:t>
            </a:r>
          </a:p>
          <a:p xmlns:a="http://schemas.openxmlformats.org/drawingml/2006/main">
            <a:pPr>
              <a:defRPr sz="1725" b="0">
                <a:solidFill>
                  <a:srgbClr val="DBF3F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BF3F2"/>
                </a:solidFill>
                <a:latin typeface="Consolas"/>
                <a:ea typeface="Consolas"/>
                <a:cs typeface="Consolas"/>
              </a:rPr>
              <a:t>                       convert_to_numpy=True, show_progress_bar=True)</a:t>
            </a:r>
          </a:p>
          <a:p xmlns:a="http://schemas.openxmlformats.org/drawingml/2006/main">
            <a:pPr>
              <a:defRPr sz="1725" b="0">
                <a:solidFill>
                  <a:srgbClr val="DBF3F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BF3F2"/>
                </a:solidFill>
                <a:latin typeface="Consolas"/>
                <a:ea typeface="Consolas"/>
                <a:cs typeface="Consolas"/>
              </a:rPr>
              <a:t>np.save(path, vectors)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DBF3F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BF3F2"/>
                </a:solidFill>
                <a:latin typeface="Consolas"/>
                <a:ea typeface="Consolas"/>
                <a:cs typeface="Consolas"/>
              </a:rPr>
              <a:t>qvector = model.encode(query, </a:t>
            </a:r>
          </a:p>
          <a:p xmlns:a="http://schemas.openxmlformats.org/drawingml/2006/main">
            <a:pPr>
              <a:defRPr sz="1725" b="0">
                <a:solidFill>
                  <a:srgbClr val="DBF3F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BF3F2"/>
                </a:solidFill>
                <a:latin typeface="Consolas"/>
                <a:ea typeface="Consolas"/>
                <a:cs typeface="Consolas"/>
              </a:rPr>
              <a:t>                       normalize_embeddings=True, convert_to_numpy=True)</a:t>
            </a:r>
          </a:p>
          <a:p xmlns:a="http://schemas.openxmlformats.org/drawingml/2006/main">
            <a:pPr>
              <a:defRPr sz="1725" b="0">
                <a:solidFill>
                  <a:srgbClr val="DBF3F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BF3F2"/>
                </a:solidFill>
                <a:latin typeface="Consolas"/>
                <a:ea typeface="Consolas"/>
                <a:cs typeface="Consolas"/>
              </a:rPr>
              <a:t>scores = vectors @ qvector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87603A-3AA7-49F0-9232-CFE2BB7B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Vetores normalizados: produto escalar = similaridade por cosseno</a:t>
            </a:r>
          </a:p>
        </p:txBody>
      </p:sp>
    </p:spTree>
    <p:extLst>
      <p:ext uri="{BB962C8B-B14F-4D97-AF65-F5344CB8AC3E}">
        <p14:creationId xmlns:p14="http://schemas.microsoft.com/office/powerpoint/2010/main" val="385099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EA157-5D45-404C-957B-8D4F042F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Código: média ponderada normalizada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87630F-DEAC-46C0-902B-2E1D73A8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C7D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C7D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2AFFCC-EB97-4A25-863D-01E5683F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BF3F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BF3F2"/>
                </a:solidFill>
                <a:latin typeface="Consolas"/>
                <a:ea typeface="Consolas"/>
                <a:cs typeface="Consolas"/>
              </a:rPr>
              <a:t>def normalize(scores):</a:t>
            </a:r>
          </a:p>
          <a:p xmlns:a="http://schemas.openxmlformats.org/drawingml/2006/main">
            <a:pPr>
              <a:defRPr sz="1725" b="0">
                <a:solidFill>
                  <a:srgbClr val="DBF3F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BF3F2"/>
                </a:solidFill>
                <a:latin typeface="Consolas"/>
                <a:ea typeface="Consolas"/>
                <a:cs typeface="Consolas"/>
              </a:rPr>
              <a:t>    lo, hi = float(np.min(scores)), float(np.max(scores))</a:t>
            </a:r>
          </a:p>
          <a:p xmlns:a="http://schemas.openxmlformats.org/drawingml/2006/main">
            <a:pPr>
              <a:defRPr sz="1725" b="0">
                <a:solidFill>
                  <a:srgbClr val="DBF3F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BF3F2"/>
                </a:solidFill>
                <a:latin typeface="Consolas"/>
                <a:ea typeface="Consolas"/>
                <a:cs typeface="Consolas"/>
              </a:rPr>
              <a:t>    return ((scores - lo) / (hi - lo)</a:t>
            </a:r>
          </a:p>
          <a:p xmlns:a="http://schemas.openxmlformats.org/drawingml/2006/main">
            <a:pPr>
              <a:defRPr sz="1725" b="0">
                <a:solidFill>
                  <a:srgbClr val="DBF3F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BF3F2"/>
                </a:solidFill>
                <a:latin typeface="Consolas"/>
                <a:ea typeface="Consolas"/>
                <a:cs typeface="Consolas"/>
              </a:rPr>
              <a:t>            if hi &gt; lo else np.zeros_like(scores))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DBF3F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BF3F2"/>
                </a:solidFill>
                <a:latin typeface="Consolas"/>
                <a:ea typeface="Consolas"/>
                <a:cs typeface="Consolas"/>
              </a:rPr>
              <a:t>def weighted(lexical, semantic, alpha):</a:t>
            </a:r>
          </a:p>
          <a:p xmlns:a="http://schemas.openxmlformats.org/drawingml/2006/main">
            <a:pPr>
              <a:defRPr sz="1725" b="0">
                <a:solidFill>
                  <a:srgbClr val="DBF3F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BF3F2"/>
                </a:solidFill>
                <a:latin typeface="Consolas"/>
                <a:ea typeface="Consolas"/>
                <a:cs typeface="Consolas"/>
              </a:rPr>
              <a:t>    if not 0 &lt;= alpha &lt;= 1:</a:t>
            </a:r>
          </a:p>
          <a:p xmlns:a="http://schemas.openxmlformats.org/drawingml/2006/main">
            <a:pPr>
              <a:defRPr sz="1725" b="0">
                <a:solidFill>
                  <a:srgbClr val="DBF3F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BF3F2"/>
                </a:solidFill>
                <a:latin typeface="Consolas"/>
                <a:ea typeface="Consolas"/>
                <a:cs typeface="Consolas"/>
              </a:rPr>
              <a:t>        raise ValueError('O peso lexical deve estar entre 0 e 1.')</a:t>
            </a:r>
          </a:p>
          <a:p xmlns:a="http://schemas.openxmlformats.org/drawingml/2006/main">
            <a:pPr>
              <a:defRPr sz="1725" b="0">
                <a:solidFill>
                  <a:srgbClr val="DBF3F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BF3F2"/>
                </a:solidFill>
                <a:latin typeface="Consolas"/>
                <a:ea typeface="Consolas"/>
                <a:cs typeface="Consolas"/>
              </a:rPr>
              <a:t>    return (alpha * normalize(lexical)</a:t>
            </a:r>
          </a:p>
          <a:p xmlns:a="http://schemas.openxmlformats.org/drawingml/2006/main">
            <a:pPr>
              <a:defRPr sz="1725" b="0">
                <a:solidFill>
                  <a:srgbClr val="DBF3F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BF3F2"/>
                </a:solidFill>
                <a:latin typeface="Consolas"/>
                <a:ea typeface="Consolas"/>
                <a:cs typeface="Consolas"/>
              </a:rPr>
              <a:t>            + (1 - alpha) * normalize(semantic))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7B8D93-10A8-4C4D-AD6A-49F6112B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alpha = peso lexical   |   1 − alpha = peso semântico</a:t>
            </a:r>
          </a:p>
        </p:txBody>
      </p:sp>
    </p:spTree>
    <p:extLst>
      <p:ext uri="{BB962C8B-B14F-4D97-AF65-F5344CB8AC3E}">
        <p14:creationId xmlns:p14="http://schemas.microsoft.com/office/powerpoint/2010/main" val="4236818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CE385-19AE-407C-B1A9-A583EC92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Código: Reciprocal Rank Fusion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6B2AAF-0F89-4AD1-87AB-2AB683D0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C7D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C7D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F7904-D7EC-49A4-9D2A-DFFF3FC7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BF3F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BF3F2"/>
                </a:solidFill>
                <a:latin typeface="Consolas"/>
                <a:ea typeface="Consolas"/>
                <a:cs typeface="Consolas"/>
              </a:rPr>
              <a:t>scores = np.zeros(len(lexical))</a:t>
            </a:r>
          </a:p>
          <a:p xmlns:a="http://schemas.openxmlformats.org/drawingml/2006/main">
            <a:pPr>
              <a:defRPr sz="1725" b="0">
                <a:solidFill>
                  <a:srgbClr val="DBF3F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BF3F2"/>
                </a:solidFill>
                <a:latin typeface="Consolas"/>
                <a:ea typeface="Consolas"/>
                <a:cs typeface="Consolas"/>
              </a:rPr>
              <a:t>for values, only_positive in [(lexical, True), (semantic, False)]:</a:t>
            </a:r>
          </a:p>
          <a:p xmlns:a="http://schemas.openxmlformats.org/drawingml/2006/main">
            <a:pPr>
              <a:defRPr sz="1725" b="0">
                <a:solidFill>
                  <a:srgbClr val="DBF3F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BF3F2"/>
                </a:solidFill>
                <a:latin typeface="Consolas"/>
                <a:ea typeface="Consolas"/>
                <a:cs typeface="Consolas"/>
              </a:rPr>
              <a:t>    ranked = order(values)</a:t>
            </a:r>
          </a:p>
          <a:p xmlns:a="http://schemas.openxmlformats.org/drawingml/2006/main">
            <a:pPr>
              <a:defRPr sz="1725" b="0">
                <a:solidFill>
                  <a:srgbClr val="DBF3F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BF3F2"/>
                </a:solidFill>
                <a:latin typeface="Consolas"/>
                <a:ea typeface="Consolas"/>
                <a:cs typeface="Consolas"/>
              </a:rPr>
              <a:t>    if only_positive:</a:t>
            </a:r>
          </a:p>
          <a:p xmlns:a="http://schemas.openxmlformats.org/drawingml/2006/main">
            <a:pPr>
              <a:defRPr sz="1725" b="0">
                <a:solidFill>
                  <a:srgbClr val="DBF3F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BF3F2"/>
                </a:solidFill>
                <a:latin typeface="Consolas"/>
                <a:ea typeface="Consolas"/>
                <a:cs typeface="Consolas"/>
              </a:rPr>
              <a:t>        ranked = ranked[values[ranked] &gt; 0]</a:t>
            </a:r>
          </a:p>
          <a:p xmlns:a="http://schemas.openxmlformats.org/drawingml/2006/main">
            <a:pPr>
              <a:defRPr sz="1725" b="0">
                <a:solidFill>
                  <a:srgbClr val="DBF3F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BF3F2"/>
                </a:solidFill>
                <a:latin typeface="Consolas"/>
                <a:ea typeface="Consolas"/>
                <a:cs typeface="Consolas"/>
              </a:rPr>
              <a:t>    scores[ranked] += 1 / (k + np.arange(1, len(ranked) + 1))</a:t>
            </a:r>
          </a:p>
          <a:p xmlns:a="http://schemas.openxmlformats.org/drawingml/2006/main">
            <a:pPr>
              <a:defRPr sz="1725" b="0">
                <a:solidFill>
                  <a:srgbClr val="DBF3F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BF3F2"/>
                </a:solidFill>
                <a:latin typeface="Consolas"/>
                <a:ea typeface="Consolas"/>
                <a:cs typeface="Consolas"/>
              </a:rPr>
              <a:t>return scores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3C102-A6D7-43FE-8B79-6EF08499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RRF soma 1 / (k + posição) para cada fonte</a:t>
            </a:r>
          </a:p>
        </p:txBody>
      </p:sp>
    </p:spTree>
    <p:extLst>
      <p:ext uri="{BB962C8B-B14F-4D97-AF65-F5344CB8AC3E}">
        <p14:creationId xmlns:p14="http://schemas.microsoft.com/office/powerpoint/2010/main" val="17211386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31491-B03D-4784-942B-E4A97FBA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Avaliação dos resultados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E7F2D3-92F6-4B02-AC64-8B342182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259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"/>
                <a:gridCol w="8782050"/>
                <a:gridCol w="1285875"/>
              </a:tblGrid>
              <a:tr h="6477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Nota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Critério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Pares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Não responde à consulta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110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Relacionado, mas incompleto ou genérico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213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Resposta concreta ligada à consulta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7221B0-FEE6-4A7E-81D8-53B88BD0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66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Precision@10: proporção de relevantes no top 10</a:t>
            </a:r>
          </a:p>
          <a:p xmlns:a="http://schemas.openxmlformats.org/drawingml/2006/main">
            <a:pPr>
              <a:defRPr sz="217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nDCG@10: relevância e posição no ranking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A86727-4F21-4DDF-954F-2CAE8E2D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Julgamentos por IA, sem revisão humana; Recall limitado ao pool</a:t>
            </a:r>
          </a:p>
        </p:txBody>
      </p:sp>
    </p:spTree>
    <p:extLst>
      <p:ext uri="{BB962C8B-B14F-4D97-AF65-F5344CB8AC3E}">
        <p14:creationId xmlns:p14="http://schemas.microsoft.com/office/powerpoint/2010/main" val="5885470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215C08-1E55-4BBE-A895-C1883FFC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BGE-M3 teve a melhor média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D5F9F1-FFD1-4FB3-BE82-79E8FDB3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2971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3200400"/>
                <a:gridCol w="3200400"/>
              </a:tblGrid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Método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Precision@10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nDCG@10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BM25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59%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0,413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MiniLM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67%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0,534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BGE-M3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85%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0,680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397F7D-60C7-46AB-9BED-29B9B6EC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BGE recuperou, em média, 8,5 frases relacionadas no top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C7E306-330E-4EBC-9F5F-D2950760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A precisão inclui relevância parcial; avaliação por IA</a:t>
            </a:r>
          </a:p>
        </p:txBody>
      </p:sp>
    </p:spTree>
    <p:extLst>
      <p:ext uri="{BB962C8B-B14F-4D97-AF65-F5344CB8AC3E}">
        <p14:creationId xmlns:p14="http://schemas.microsoft.com/office/powerpoint/2010/main" val="2367003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CD4ECA-F46A-41D8-B095-F741E551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Resultados: efeito do peso lexical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50BB47-8A74-44C9-AC0D-512129BC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219325"/>
                <a:gridCol w="2219325"/>
                <a:gridCol w="2219325"/>
                <a:gridCol w="2219325"/>
              </a:tblGrid>
              <a:tr h="6096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Peso lexical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MiniLM P@10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MiniLM nDCG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BGE P@10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BGE nDCG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67%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0,534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85%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0,680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25%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72%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0,501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77%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0,549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50%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65%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0,462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63%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0,439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75%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63%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0,444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63%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0,433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59%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0,413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59%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0,413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85892D-109C-44F0-8787-467C116B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MiniLM ganhou precisão com 25% lexical, mas perdeu nDCG</a:t>
            </a:r>
          </a:p>
        </p:txBody>
      </p:sp>
    </p:spTree>
    <p:extLst>
      <p:ext uri="{BB962C8B-B14F-4D97-AF65-F5344CB8AC3E}">
        <p14:creationId xmlns:p14="http://schemas.microsoft.com/office/powerpoint/2010/main" val="18978257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14F29-4FF6-4DE0-A7B9-1293484A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Resultados: efeito de k no RRF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7FDD05-B953-45BB-811A-2AF07A24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219325"/>
                <a:gridCol w="2219325"/>
                <a:gridCol w="2219325"/>
                <a:gridCol w="2219325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MiniLM P@10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MiniLM nDCG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BGE P@10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BGE nDCG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67%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0,492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74%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0,525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66%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0,467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74%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0,505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60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71%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0,480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74%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0,504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69%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0,473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73%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0,499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9A9FC1-2BE2-44C9-BA47-FFC7F71C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k = 10 teve o melhor nDCG de RRF nos dois modelos</a:t>
            </a:r>
          </a:p>
        </p:txBody>
      </p:sp>
    </p:spTree>
    <p:extLst>
      <p:ext uri="{BB962C8B-B14F-4D97-AF65-F5344CB8AC3E}">
        <p14:creationId xmlns:p14="http://schemas.microsoft.com/office/powerpoint/2010/main" val="11818456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CB8605-EE2C-461D-8E2A-3D8F9364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Exemplo: preparar o corpo antes do treino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4BAB2-FB56-404C-BE61-174430AA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AB6868-7DEF-439D-BA8E-FC57228D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BM25 • 1º resultado • nota 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E52021-76F3-47B7-A949-2D393357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“Preparar-se para o combate de solo exige evolução</a:t>
            </a:r>
          </a:p>
          <a:p xmlns:a="http://schemas.openxmlformats.org/drawingml/2006/main">
            <a:pPr>
              <a:defRPr sz="2400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conjunta de intensidade e técnica.”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58B4B8-7916-4F2B-9008-08A76090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BGE-M3 • 1º resultado • nota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8C512E-6238-4B61-B317-94AED4BA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“Antes do treino de cortes e deslocamentos, um aquecimento</a:t>
            </a:r>
          </a:p>
          <a:p xmlns:a="http://schemas.openxmlformats.org/drawingml/2006/main">
            <a:pPr>
              <a:defRPr sz="24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gradual prepara articulações e atenção.”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6EFDB8-9896-4DF4-8DF5-1EDADF89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Coincidência de palavras pode não atender à intenção da consulta</a:t>
            </a:r>
          </a:p>
        </p:txBody>
      </p:sp>
    </p:spTree>
    <p:extLst>
      <p:ext uri="{BB962C8B-B14F-4D97-AF65-F5344CB8AC3E}">
        <p14:creationId xmlns:p14="http://schemas.microsoft.com/office/powerpoint/2010/main" val="19682259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D6EAE8-9F65-4410-BA53-619F0809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Custo de execução em CPU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4FB05D-B6A2-44E5-8D45-740E15D7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733550"/>
          <a:ext xmlns:a="http://schemas.openxmlformats.org/drawingml/2006/main" cx="10972800" cy="2971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48125"/>
                <a:gridCol w="2952750"/>
                <a:gridCol w="3971925"/>
              </a:tblGrid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Método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Busca média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Preparação inicial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BM25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12,4 ms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Não registrada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MiniLM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21,6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2,56 min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BGE-M3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238,2 ms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87,43 min</a:t>
                      </a:r>
                    </a:p>
                  </a:txBody>
                  <a:tcPr marL="91440" marR="91440" marT="45720" marB="45720">
                    <a:solidFill>
                      <a:srgbClr val="EDF5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93484E-BB33-4D73-988A-3EFE47B5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O cache evita recalcular os embeddings do corpus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39B24-14AC-4B0A-88CE-36F29421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Preparação inclui carregamento e eventual download dos modelos</a:t>
            </a:r>
          </a:p>
        </p:txBody>
      </p:sp>
    </p:spTree>
    <p:extLst>
      <p:ext uri="{BB962C8B-B14F-4D97-AF65-F5344CB8AC3E}">
        <p14:creationId xmlns:p14="http://schemas.microsoft.com/office/powerpoint/2010/main" val="4315541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5C5FD8-DC61-4AC4-8AA7-3705DCD0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Conclusões e limitações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535978-3B0A-4295-80C3-4940D3AB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C33852-4EB8-41CA-83EA-7DB98D16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BGE-M3: melhor qualidade média, maior custo observado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0ADBA-2393-442D-8137-881234EE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Fusão: o ganho depende do modelo, peso e métrica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B4B5E-A13D-4A36-92F7-1E3DCFA5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MiniLM + 25% lexical: mais precisão, menos nDCG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B76B4-6FA8-4267-9877-51D79295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66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Limites: 10 consultas, corpus sintético e notas por IA</a:t>
            </a:r>
          </a:p>
          <a:p xmlns:a="http://schemas.openxmlformats.org/drawingml/2006/main">
            <a:pPr>
              <a:defRPr sz="2100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Novas consultas e revisão humana ajudam a validar as conclusões</a:t>
            </a:r>
          </a:p>
        </p:txBody>
      </p:sp>
    </p:spTree>
    <p:extLst>
      <p:ext uri="{BB962C8B-B14F-4D97-AF65-F5344CB8AC3E}">
        <p14:creationId xmlns:p14="http://schemas.microsoft.com/office/powerpoint/2010/main" val="14831023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2026-10-06T21:10:20.6390000Z</dcterms:created>
  <dcterms:modified xsi:type="dcterms:W3CDTF">2026-10-06T21:10:20.6390000Z</dcterms:modified>
</coreProperties>
</file>